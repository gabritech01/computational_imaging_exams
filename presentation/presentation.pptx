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22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Deblur &amp; Denoise on KaoKore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as an Inverse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Computational Imaging 2025-26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Gabriele Centonze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B22E14"/>
                </a:solidFill>
              </a:defRPr>
            </a:pPr>
            <a:r>
              <a:t>Description of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Task: deblur + denoise, formulated as an inverse problem y = Ax + n</a:t>
            </a:r>
          </a:p>
          <a:p>
            <a:pPr lvl="1"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-  A: Gaussian blur (sigma=2, kernel 9x9); n: additive Gaussian noise, 4 levels (0.005, 0.01, 0.05, 0.1)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Dataset: KaoKore v1.3, 256x256 RGB portraits (9257 images)</a:t>
            </a:r>
          </a:p>
          <a:p>
            <a:pPr lvl="1"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-  Official train / dev / test split from the dataset's own labels.csv: 7405 / 926 / 926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Goal: implement and critically compare methods from different methodological families</a:t>
            </a:r>
          </a:p>
          <a:p>
            <a:pPr lvl="1"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-  under the same experimental conditions (same degraded inputs for every method)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3 of the 4 proposed methods (allowed for single-student projects):</a:t>
            </a:r>
          </a:p>
          <a:p>
            <a:pPr lvl="1"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-  Variational (FISTA + Wavelet), Hybrid (PD-Net + TV), End-to-end (UNet)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B22E14"/>
                </a:solidFill>
              </a:defRPr>
            </a:pPr>
            <a:r>
              <a:t>Methodology —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The inverse problem is ill-posed: A attenuates high spatial frequencies</a:t>
            </a:r>
          </a:p>
          <a:p>
            <a:pPr lvl="1"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-  naive inversion amplifies noise uncontrollably -&gt; regularization / a prior is required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Three different ways of introducing that prior:</a:t>
            </a:r>
          </a:p>
          <a:p>
            <a:pPr lvl="1"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-  Variational: an explicit hand-crafted prior (wavelet sparsity), no learning</a:t>
            </a:r>
          </a:p>
          <a:p>
            <a:pPr lvl="1"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-  Hybrid: known physics (A, image gradient) + a few learned correction blocks</a:t>
            </a:r>
          </a:p>
          <a:p>
            <a:pPr lvl="1"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-  End-to-end: the whole mapping y -&gt; x is learned from data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All three share the exact same forward operator and read the exact same</a:t>
            </a:r>
          </a:p>
          <a:p>
            <a:pPr lvl="1"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-  pre-generated degraded PNG files for evaluation (fair comparison)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B22E14"/>
                </a:solidFill>
              </a:defRPr>
            </a:pPr>
            <a:r>
              <a:t>Methodology — Variational: FISTA + Wavelet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min_x  1/2||Ax - y||^2 + lambda ||Wx||_1   (W: orthogonal wavelet transform)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Non-smooth but convex -&gt; proximal gradient method (Beck &amp; Teboulle, 2009)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For orthogonal W, prox of the L1 term = soft-thresholding of wavelet coefficients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Nesterov-style extrapolation: convergence rate O(1/k^2) instead of O(1/k)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Step size 1/L: L = ||A^T A|| = 1 exactly, thanks to circular boundary conditions</a:t>
            </a:r>
          </a:p>
          <a:p>
            <a:pPr lvl="1"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-  (A becomes a symmetric circulant operator, diagonalized by the Fourier transform)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B22E14"/>
                </a:solidFill>
              </a:defRPr>
            </a:pPr>
            <a:r>
              <a:t>Methodology — Hybrid: PD-Net + TV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min_x  1/2||Ax - y||^2 + lambda * TV(x)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Unrolled Chambolle-Pock primal-dual algorithm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Exact proximal / projection steps replaced by small learned CNN blocks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Dual variable lives in gradient space (not data space): ties the network</a:t>
            </a:r>
          </a:p>
          <a:p>
            <a:pPr lvl="1"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-  explicitly to the TV structure, unlike a generic learned primal-dual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Data-fidelity gradient A^T(Ax-y) stays exact (not learned) at every iteration</a:t>
            </a:r>
          </a:p>
          <a:p>
            <a:pPr lvl="1"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-  -&gt; hybrid: known physics + learned correction, not a black box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B22E14"/>
                </a:solidFill>
              </a:defRPr>
            </a:pPr>
            <a:r>
              <a:t>Methodology — End-to-end: UNet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Fully supervised: learns the direct mapping y -&gt; x from training pairs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Chosen over ViT / NAF-Net: the degradation is spatially local (small kernel,</a:t>
            </a:r>
          </a:p>
          <a:p>
            <a:pPr lvl="1"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-  per-pixel noise) -&gt; no need for long-range attention; simpler to implement well</a:t>
            </a:r>
          </a:p>
          <a:p>
            <a:pPr lvl="1"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-  in the available time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Encoder-decoder with skip connections: preserve fine spatial detail across</a:t>
            </a:r>
          </a:p>
          <a:p>
            <a:pPr lvl="1"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-  the bottleneck, needed since input and output share almost all structure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Residual learning: x_hat = y + UNet(y), the network only learns the correction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B22E14"/>
                </a:solidFill>
              </a:defRPr>
            </a:pPr>
            <a:r>
              <a:t>Implementation — FISTA + Wavelet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Wavelet: Daubechies db4, 3 decomposition levels, mode='periodization'</a:t>
            </a:r>
          </a:p>
          <a:p>
            <a:pPr lvl="1"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-  (periodization keeps the DWT exactly orthogonal, required for the prox to be exact)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100 iterations per image, no learned parameters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lambda tuned by grid search on the dev set (20 images), separately per noise level</a:t>
            </a:r>
          </a:p>
          <a:p>
            <a:pPr lvl="1"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-  (0.005 -&gt; 0.0025, 0.01 -&gt; 0.0035, 0.05 -&gt; 0.0175, 0.1 -&gt; 0.07: grows with noise, as</a:t>
            </a:r>
          </a:p>
          <a:p>
            <a:pPr lvl="1"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-  expected from the discrepancy principle)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B22E14"/>
                </a:solidFill>
              </a:defRPr>
            </a:pPr>
            <a:r>
              <a:t>Implementation — PD-Net</a:t>
            </a:r>
          </a:p>
        </p:txBody>
      </p:sp>
      <p:pic>
        <p:nvPicPr>
          <p:cNvPr id="3" name="Picture 2" descr="pdne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88720"/>
            <a:ext cx="9784080" cy="40025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3949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•  8 unrolled iterations, independent weights per iteration; CNN blocks: Conv3x3-LeakyReLU-Conv3x3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•  4 specialized models (one per noise level), 700 training images, 12 epochs, Adam (lr=2e-4), L1 loss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B22E14"/>
                </a:solidFill>
              </a:defRPr>
            </a:pPr>
            <a:r>
              <a:t>Implementation — UNet</a:t>
            </a:r>
          </a:p>
        </p:txBody>
      </p:sp>
      <p:pic>
        <p:nvPicPr>
          <p:cNvPr id="3" name="Picture 2" descr="une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188720"/>
            <a:ext cx="8778240" cy="39901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3949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•  4 downsampling levels, base channels 48, GroupNorm (stable with small batch size)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•  4 specialized models (one per noise level), 1000 training images, 20 epochs, Adam (lr=2e-4), L1 loss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B22E14"/>
                </a:solidFill>
              </a:defRPr>
            </a:pPr>
            <a:r>
              <a:t>Introduce the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Degradation: Gaussian blur sigma=2, kernel 9x9, circular boundary conditions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Noise: additive Gaussian, std = noise level directly (0.005 / 0.01 / 0.05 / 0.1), on [0,1] images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Degraded observations generated once, saved as 8-bit PNGs -&gt; identical inputs for all methods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Time-constrained scope decisions (declared explicitly, not hidden):</a:t>
            </a:r>
          </a:p>
          <a:p>
            <a:pPr lvl="1"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-  evaluation on a fixed subset (80 test + 20 dev images) instead of the full 926/926</a:t>
            </a:r>
          </a:p>
          <a:p>
            <a:pPr lvl="1"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-  3 of 4 methods (allowed for single-student projects); generative method (Diffusion+DPS) dropped</a:t>
            </a:r>
          </a:p>
          <a:p>
            <a:pPr lvl="1"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-  4 specialized models per learned method, for a fair comparison against FISTA's per-level lambda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B22E14"/>
                </a:solidFill>
              </a:defRPr>
            </a:pPr>
            <a:r>
              <a:t>Numerical results — summary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6984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400929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Noise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PSNR (dB)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Time/image (s)</a:t>
                      </a:r>
                    </a:p>
                  </a:txBody>
                  <a:tcPr/>
                </a:tc>
              </a:tr>
              <a:tr h="40092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FISTA-Wavelet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31.17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1.5724</a:t>
                      </a:r>
                    </a:p>
                  </a:txBody>
                  <a:tcPr/>
                </a:tc>
              </a:tr>
              <a:tr h="40092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FISTA-Wavelet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1.5724</a:t>
                      </a:r>
                    </a:p>
                  </a:txBody>
                  <a:tcPr/>
                </a:tc>
              </a:tr>
              <a:tr h="40092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FISTA-Wavelet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28.96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0.779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1.5724</a:t>
                      </a:r>
                    </a:p>
                  </a:txBody>
                  <a:tcPr/>
                </a:tc>
              </a:tr>
              <a:tr h="40092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FISTA-Wavelet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27.09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1.5724</a:t>
                      </a:r>
                    </a:p>
                  </a:txBody>
                  <a:tcPr/>
                </a:tc>
              </a:tr>
              <a:tr h="40092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PD-Net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33.43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0.0376</a:t>
                      </a:r>
                    </a:p>
                  </a:txBody>
                  <a:tcPr/>
                </a:tc>
              </a:tr>
              <a:tr h="40092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PD-Net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33.84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0.0376</a:t>
                      </a:r>
                    </a:p>
                  </a:txBody>
                  <a:tcPr/>
                </a:tc>
              </a:tr>
              <a:tr h="40092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PD-Net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31.77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0.0376</a:t>
                      </a:r>
                    </a:p>
                  </a:txBody>
                  <a:tcPr/>
                </a:tc>
              </a:tr>
              <a:tr h="40092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PD-Net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0.0376</a:t>
                      </a:r>
                    </a:p>
                  </a:txBody>
                  <a:tcPr/>
                </a:tc>
              </a:tr>
              <a:tr h="40092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33.39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0.0373</a:t>
                      </a:r>
                    </a:p>
                  </a:txBody>
                  <a:tcPr/>
                </a:tc>
              </a:tr>
              <a:tr h="40092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34.03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0.0373</a:t>
                      </a:r>
                    </a:p>
                  </a:txBody>
                  <a:tcPr/>
                </a:tc>
              </a:tr>
              <a:tr h="40092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32.08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0.0373</a:t>
                      </a:r>
                    </a:p>
                  </a:txBody>
                  <a:tcPr/>
                </a:tc>
              </a:tr>
              <a:tr h="400932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0.0373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B22E14"/>
                </a:solidFill>
              </a:defRPr>
            </a:pPr>
            <a:r>
              <a:t>Numerical results — comparison plot</a:t>
            </a:r>
          </a:p>
        </p:txBody>
      </p:sp>
      <p:pic>
        <p:nvPicPr>
          <p:cNvPr id="3" name="Picture 2" descr="comparison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42270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B22E14"/>
                </a:solidFill>
              </a:defRPr>
            </a:pPr>
            <a:r>
              <a:t>Numerical results — visual comparison</a:t>
            </a:r>
          </a:p>
        </p:txBody>
      </p:sp>
      <p:pic>
        <p:nvPicPr>
          <p:cNvPr id="3" name="Picture 2" descr="composit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47207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B22E14"/>
                </a:solidFill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UNet and PD-Net outperform FISTA by 2-3 dB PSNR at every noise level:</a:t>
            </a:r>
          </a:p>
          <a:p>
            <a:pPr lvl="1"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-  a prior learned on KaoKore's own statistics beats a generic wavelet-sparsity prior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UNet and PD-Net achieve near-identical accuracy, but PD-Net uses ~100x fewer parameters</a:t>
            </a:r>
          </a:p>
          <a:p>
            <a:pPr lvl="1"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-  (302 KB vs 33 MB checkpoints): embedding known physics reduces what must be learned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FISTA is ~40x slower per image (iterative optimization vs a single forward pass),</a:t>
            </a:r>
          </a:p>
          <a:p>
            <a:pPr lvl="1"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-  but needs no training and is fully interpretable, unlike the two learned methods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Limits: reduced evaluation subset and training set/epochs, due to time constraints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•  Future work: full test set and training set, more epochs, add the 4th method</a:t>
            </a:r>
          </a:p>
          <a:p>
            <a:pPr lvl="1"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-  (Diffusion + DPS), try NAF-Net as an alternative end-to-end architecture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B22E14"/>
                </a:solidFill>
              </a:defRPr>
            </a:pPr>
            <a:r>
              <a:t>Bibliography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•  A. Beck, M. Teboulle. "A Fast Iterative Shrinkage-Thresholding Algorithm for Linear Inverse Problems." SIAM J. Imaging Sciences, 2009.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•  A. Chambolle, T. Pock. "A First-Order Primal-Dual Algorithm for Convex Problems with Applications to Imaging." JMIV, 2011.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•  J. Adler, O. Öktem. "Learned Primal-Dual Reconstruction." IEEE Trans. Medical Imaging, 2018.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•  O. Ronneberger, P. Fischer, T. Brox. "U-Net: Convolutional Networks for Biomedical Image Segmentation." MICCAI, 2015.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•  Y. Tian et al. "KaoKore: A Pre-modern Japanese Art Facial Expression Dataset." 2020 (dataset).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•  D. Evangelista. IPPy library (course material), reused/adapted for the Blurring, Gradient operators and the Learned Primal-Dual design pattern.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